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7" r:id="rId3"/>
    <p:sldId id="266" r:id="rId4"/>
    <p:sldId id="269" r:id="rId5"/>
    <p:sldId id="267" r:id="rId6"/>
    <p:sldId id="258" r:id="rId7"/>
    <p:sldId id="268" r:id="rId8"/>
    <p:sldId id="276" r:id="rId9"/>
    <p:sldId id="270" r:id="rId10"/>
    <p:sldId id="277" r:id="rId11"/>
    <p:sldId id="271" r:id="rId12"/>
    <p:sldId id="278" r:id="rId13"/>
    <p:sldId id="272" r:id="rId14"/>
    <p:sldId id="279" r:id="rId15"/>
    <p:sldId id="273" r:id="rId16"/>
    <p:sldId id="280" r:id="rId17"/>
    <p:sldId id="281" r:id="rId18"/>
    <p:sldId id="274" r:id="rId19"/>
    <p:sldId id="275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5AA6-FA59-37BB-1116-10DCC436E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D7DB1-A383-E036-C53A-45667A6D1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05A9D-E94E-90F4-2FC6-EAC58F3F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FF722-1E70-100F-0BA8-D420A4959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4ADE-91E6-19A3-1FB3-7064834E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2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6E55-BC16-035E-0FF5-8F16B774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9ED4B-5930-7009-7AD4-D895909BD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0AAC8-910D-422F-99E5-A9279F98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44A30-F53D-CFC0-1AB0-DB43DB0F6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D0C38-5845-5229-8649-AEE070C2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07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933F-89A1-17BB-83D7-ADFE16CD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E3E53-7002-9E42-D3F2-7962ED576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F505B-35C4-E85C-E261-F7A795EF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AE927-5C63-A3D6-013C-579E9B97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7CEB5-8B7B-D5E9-63E4-13344777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8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733A-D869-9CE9-0E8E-73F27EE4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CA1D2-84DA-7BC3-EE49-201844FC0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1AD1F-56F5-ECCB-DAEA-F7500995D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F033F-7A0A-814C-5789-1E58E52C6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5EDF8-31B7-C076-64FC-5FCDEDB0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53A22-83CF-0A61-0C1B-4C5D8777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82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FCC4-2C4B-77AF-83A3-5EAB41FB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848FA-2BCB-F2DD-ED9D-B60C83742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6B974-D060-AE44-A217-3F14BCA78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CDC68-1224-2832-6EDC-B32547181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F3F33-7466-6379-A9D8-A636904CE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B3507-AB8A-7E0A-385A-99C83477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F39EE-DFE4-9864-9D61-A2E91E14D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100CB-5D36-9524-3D76-A3B2A90F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246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905D-DBAA-9014-230A-1AEF9AA0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D8C19-01B8-0B28-4110-C857442D1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E54A8-71C2-86EF-8839-9DD9FDB9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1E694-6ED8-C793-C695-ED58956AB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27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A8468-F886-AC5F-8E8A-3D9C0F41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77EB8-6B90-B98A-E042-C5FC0FE43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52DBA-2976-54AA-A794-560E9C44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72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5B2B-617A-EBB6-BE8E-ECB853F3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413C9-61BB-EA11-31B1-6073DE9DA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9EE0E-D19C-565B-67DE-78B084DE3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C87C2-AB12-AEE5-C477-BF3936A2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02B2E-A2D1-0874-6045-33833F7A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91CAF-152E-60FA-5902-636B3CE2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26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AC68-D1BB-6F9E-DA36-BDE36E7A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E4B4F4-C0CA-C98E-3895-C3065EE37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FD367-4F75-28A1-6010-F3D13187B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C41C-7144-043D-0354-168C26BD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7F274-C2D8-3F78-87EE-EF035232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4AAC0-87D1-11C1-9BBC-06C93BD0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76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B5F1-53EB-7A46-6B4C-D9C0A0CA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21CA8-A85B-2020-1ADD-005DF6913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C3699-89D9-5B0F-E49F-A974853B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A2580-9AD9-3DE7-33B4-ECBDBC22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58291-B10F-A6BC-0F60-8F5091E7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4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E50C4-3E99-35F0-8465-EDF01251D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30687-392C-0482-2543-4699DD4E9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B811B-FCBE-D2CD-F385-E7E81EEE0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4C11E-5ADF-E6E1-22C7-B3CEA9FB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2EE6B-1A04-5A7C-58BB-E9314046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47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67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04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4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062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238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565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442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06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36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422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707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6770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8E28A-FA9C-1F94-4AAF-7D1EA9EE2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2C0BD-9D45-A2BC-556F-135F86586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B0EA5-5231-11B4-D8B6-B8556F91E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89216-17C7-42B4-8358-3A04FAE94BE2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2CF34-2F03-E81E-AB80-02FA34A92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24ACB-F6A6-5E1E-A4B3-4198394D2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9D489-69E0-4E8D-8CC7-B627EC41C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42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24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45831"/>
            <a:ext cx="6638544" cy="2386584"/>
          </a:xfrm>
        </p:spPr>
        <p:txBody>
          <a:bodyPr/>
          <a:lstStyle/>
          <a:p>
            <a:r>
              <a:rPr lang="en-US" dirty="0"/>
              <a:t>Exploring RL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C16AB-0F9F-871C-1B92-948C0FC21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Course: Reinforcement Learning</a:t>
            </a:r>
          </a:p>
          <a:p>
            <a:r>
              <a:rPr lang="en-US" dirty="0"/>
              <a:t>Instructor: Professor Alina Vereshchaka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522450-6955-AAB1-AC76-81F20CE64246}"/>
              </a:ext>
            </a:extLst>
          </p:cNvPr>
          <p:cNvSpPr txBox="1">
            <a:spLocks/>
          </p:cNvSpPr>
          <p:nvPr/>
        </p:nvSpPr>
        <p:spPr>
          <a:xfrm>
            <a:off x="658368" y="2690449"/>
            <a:ext cx="6638544" cy="165038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i="0" kern="120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Presenters: Harsh Bhargava and Vivek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lide Text">
            <a:extLst>
              <a:ext uri="{FF2B5EF4-FFF2-40B4-BE49-F238E27FC236}">
                <a16:creationId xmlns:a16="http://schemas.microsoft.com/office/drawing/2014/main" id="{38F3A7AD-BFCA-B14B-8363-A4C1A4B74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7219052" cy="39682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aim is to compare the performance of multiple advanced RL algorithms with the baseline algorithms implemented in Assignment-2 on multiple environments.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97EF4A-40C6-024D-A945-B03D1BBD02F7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B187-6277-CD39-8D83-746AA70B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Implemented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09CAB-8F0C-C29E-6DDA-C3E95CD7A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Vanilla DQN (Baseline)</a:t>
            </a:r>
          </a:p>
          <a:p>
            <a:r>
              <a:rPr lang="en-US" dirty="0"/>
              <a:t>DDQN (Baseline)</a:t>
            </a:r>
          </a:p>
          <a:p>
            <a:r>
              <a:rPr lang="en-US" dirty="0"/>
              <a:t>Dueling DQN</a:t>
            </a:r>
          </a:p>
          <a:p>
            <a:r>
              <a:rPr lang="en-US" dirty="0"/>
              <a:t>Rainbow DQN</a:t>
            </a:r>
          </a:p>
          <a:p>
            <a:r>
              <a:rPr lang="en-US" dirty="0"/>
              <a:t>PPO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F74CF-8AD1-B45E-12AC-758C4EA311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6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8D75-FB98-1BC8-BDA9-002FE7DFD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 Explored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98B34-DEBE-1A6B-5A01-332FB40CA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Atari Pong : PongNoFrameSkip-v5</a:t>
            </a:r>
          </a:p>
          <a:p>
            <a:r>
              <a:rPr lang="en-US" dirty="0"/>
              <a:t>Lunar Lander – v3</a:t>
            </a:r>
          </a:p>
          <a:p>
            <a:r>
              <a:rPr lang="en-US" dirty="0" err="1"/>
              <a:t>Acrobot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EA881-FDC3-CD73-8868-46EB073746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35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-topic">
            <a:extLst>
              <a:ext uri="{FF2B5EF4-FFF2-40B4-BE49-F238E27FC236}">
                <a16:creationId xmlns:a16="http://schemas.microsoft.com/office/drawing/2014/main" id="{B0882130-6200-324C-8A79-B506D3428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Section Divider Title">
            <a:extLst>
              <a:ext uri="{FF2B5EF4-FFF2-40B4-BE49-F238E27FC236}">
                <a16:creationId xmlns:a16="http://schemas.microsoft.com/office/drawing/2014/main" id="{F57E7746-DDC4-614A-A7D1-B72950AB5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18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107C9-150B-C55F-D340-B2E19D54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Pong: DQN (Training)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FB41C-5C77-18F0-79C3-F882360324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D50733-5EB9-E437-39DE-22C77AC84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82" y="2796518"/>
            <a:ext cx="5113265" cy="281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088A30D-DA00-9B80-7B5D-C47E95310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623" y="2831471"/>
            <a:ext cx="5193955" cy="288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62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7A66-589C-4750-B586-0AB03AB0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Pong: DQN (Evaluation)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12A8-D54C-27B1-D94C-9748C170E5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6EC89B-F05F-3ABE-9582-88F603B7C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67" y="2621361"/>
            <a:ext cx="5257307" cy="293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74DBBB0-2DF7-244A-7CEA-6415501BB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073" y="2590748"/>
            <a:ext cx="5428826" cy="302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237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BCD5-741C-6AFA-01F5-B8DFBD63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Pong: DDQN (Training)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74ED1-0777-DAD5-5945-A33F1FA690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2B400B-7C44-2388-70D7-82A66858B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" y="2589196"/>
            <a:ext cx="5680937" cy="313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B47781B-A9D0-62A3-B05D-3CBF4378A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683" y="2620007"/>
            <a:ext cx="5680937" cy="315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03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7170-8676-0427-9E1E-06B5F775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Pong DDQN (Evaluation)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A4230-E31A-AD68-659A-84A4ED862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4115924-6A82-84E6-0DA5-8B60F75D4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26" y="2696441"/>
            <a:ext cx="4842470" cy="266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0B1947B-ABBC-9320-5468-19144C363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88473"/>
            <a:ext cx="5284272" cy="2877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36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3A5F-6F3D-6018-E8FC-BB54F714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Pong: Dueling DQN (Training)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BD112-D294-537A-DC31-04F1D9BCEB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8D00D1E-1973-AC7B-0611-D304B5D15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70" y="2375925"/>
            <a:ext cx="5831130" cy="321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B72FAD61-CCD1-CEF6-8A38-C4E7E9386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173" y="2412910"/>
            <a:ext cx="5716704" cy="317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892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A2DF-5701-173A-B582-27B3D98A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Pong Dueling DQN (Evaluation)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17401-0BCD-E439-267B-CC8B34C8D5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5A72A6B-14F6-8661-6852-6F8C43573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61" y="2510756"/>
            <a:ext cx="5634439" cy="314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D2AD160-8BCE-7DA4-D39F-ACD74D44D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056" y="2510756"/>
            <a:ext cx="5634439" cy="309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974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21F7-1293-409F-2475-5B8B6889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Pong: Rainbow DQN (Training)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A1B90-ACD9-3E01-DDDB-0C71E9C21F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787BF01-F8ED-3BC8-5891-2868CFCE1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75" y="2628079"/>
            <a:ext cx="5327299" cy="293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22318196-6E67-F5D4-0E6D-1F55BF392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78834"/>
            <a:ext cx="4837596" cy="268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209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76D4-B67D-D2FB-28F4-09A23859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01018"/>
            <a:ext cx="7922554" cy="1089529"/>
          </a:xfrm>
        </p:spPr>
        <p:txBody>
          <a:bodyPr/>
          <a:lstStyle/>
          <a:p>
            <a:r>
              <a:rPr lang="en-US" dirty="0"/>
              <a:t>Pong: Rainbow DQN (Evaluation)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71FD3-AD12-E54D-0CF0-DD57580AF3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BF17EAC-6770-AE63-04E9-249E0D7C5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8" y="2657378"/>
            <a:ext cx="5146412" cy="282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4AD2BE67-5AF9-60B1-411F-B27B78014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390" y="2657378"/>
            <a:ext cx="5146412" cy="282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5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03B28-2ABA-265F-C914-9026DDA2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Pong: PPO (Training)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BADC1-4AD6-BE17-BFD5-5D792DC21E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C3145CA-4E19-9B00-A001-DC05D02A5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9" y="2659736"/>
            <a:ext cx="5637450" cy="310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AF4A3FDF-CD33-74AE-87F5-4B3AE4EC4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557" y="2659736"/>
            <a:ext cx="5558143" cy="310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951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9E2B-DE49-EEFF-CAA8-0145B3E25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Pong PPO (Evaluation)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52494-97F0-BA49-EB58-2C3D6826CC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6E58698-A284-7B05-4091-2739443DA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304" y="2418542"/>
            <a:ext cx="7617242" cy="418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45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FFDE-A12A-74C2-BEA9-5432E9111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0AC1C-8DBD-FBEC-8034-BC01D2E337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BB9466-4199-39F4-371F-1BEDED8A5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904883"/>
              </p:ext>
            </p:extLst>
          </p:nvPr>
        </p:nvGraphicFramePr>
        <p:xfrm>
          <a:off x="630302" y="2445411"/>
          <a:ext cx="9375969" cy="3620866"/>
        </p:xfrm>
        <a:graphic>
          <a:graphicData uri="http://schemas.openxmlformats.org/drawingml/2006/table">
            <a:tbl>
              <a:tblPr/>
              <a:tblGrid>
                <a:gridCol w="1682866">
                  <a:extLst>
                    <a:ext uri="{9D8B030D-6E8A-4147-A177-3AD203B41FA5}">
                      <a16:colId xmlns:a16="http://schemas.microsoft.com/office/drawing/2014/main" val="2057819812"/>
                    </a:ext>
                  </a:extLst>
                </a:gridCol>
                <a:gridCol w="2692586">
                  <a:extLst>
                    <a:ext uri="{9D8B030D-6E8A-4147-A177-3AD203B41FA5}">
                      <a16:colId xmlns:a16="http://schemas.microsoft.com/office/drawing/2014/main" val="77746840"/>
                    </a:ext>
                  </a:extLst>
                </a:gridCol>
                <a:gridCol w="1754989">
                  <a:extLst>
                    <a:ext uri="{9D8B030D-6E8A-4147-A177-3AD203B41FA5}">
                      <a16:colId xmlns:a16="http://schemas.microsoft.com/office/drawing/2014/main" val="2646348216"/>
                    </a:ext>
                  </a:extLst>
                </a:gridCol>
                <a:gridCol w="3245528">
                  <a:extLst>
                    <a:ext uri="{9D8B030D-6E8A-4147-A177-3AD203B41FA5}">
                      <a16:colId xmlns:a16="http://schemas.microsoft.com/office/drawing/2014/main" val="1562753425"/>
                    </a:ext>
                  </a:extLst>
                </a:gridCol>
              </a:tblGrid>
              <a:tr h="6200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Algorithm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Stability while training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Early Stopping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Evaluation Average Reward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088406"/>
                  </a:ext>
                </a:extLst>
              </a:tr>
              <a:tr h="5952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DQN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Highly Unstable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216009"/>
                  </a:ext>
                </a:extLst>
              </a:tr>
              <a:tr h="5952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DDQN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Slightly Stable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238861"/>
                  </a:ext>
                </a:extLst>
              </a:tr>
              <a:tr h="5952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Dueling DQN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Moderately Stable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756335"/>
                  </a:ext>
                </a:extLst>
              </a:tr>
              <a:tr h="5952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Rainbow DQN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Moderately Stable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323121"/>
                  </a:ext>
                </a:extLst>
              </a:tr>
              <a:tr h="6200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PPO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Highly Stable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823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485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9CA42-E54B-4158-A290-1688BD73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-topic">
            <a:extLst>
              <a:ext uri="{FF2B5EF4-FFF2-40B4-BE49-F238E27FC236}">
                <a16:creationId xmlns:a16="http://schemas.microsoft.com/office/drawing/2014/main" id="{7338BDB3-59AA-9059-7996-A2F017528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5" name="Section Divider Title">
            <a:extLst>
              <a:ext uri="{FF2B5EF4-FFF2-40B4-BE49-F238E27FC236}">
                <a16:creationId xmlns:a16="http://schemas.microsoft.com/office/drawing/2014/main" id="{667A348B-801F-F6C1-BCB1-CF9A3F449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194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16B6F-AF95-EB09-E2B1-477ED4A3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B04F-3D8D-BB07-A54A-DC7CACFD7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5E961-7D49-296A-D9AD-FB39DBF99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69A47-1EB5-4657-4814-90645E8799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824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CAEC-B05F-C1F0-3356-1C899FA4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4488-7B55-16E2-77B9-C220CFF03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CB9C5-D32C-D27E-AACF-640851B30F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68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190</Words>
  <Application>Microsoft Office PowerPoint</Application>
  <PresentationFormat>Widescreen</PresentationFormat>
  <Paragraphs>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Georgia</vt:lpstr>
      <vt:lpstr>System Font Regular</vt:lpstr>
      <vt:lpstr>Office Theme</vt:lpstr>
      <vt:lpstr>1_Office Theme</vt:lpstr>
      <vt:lpstr>Exploring RL Algorithms</vt:lpstr>
      <vt:lpstr>Problem Statement</vt:lpstr>
      <vt:lpstr>Algorithms Implemented</vt:lpstr>
      <vt:lpstr>Environments Explored</vt:lpstr>
      <vt:lpstr>Results</vt:lpstr>
      <vt:lpstr>Pong: DQN (Training)</vt:lpstr>
      <vt:lpstr>Pong: DQN (Evaluation)</vt:lpstr>
      <vt:lpstr>Pong: DDQN (Training)</vt:lpstr>
      <vt:lpstr>Pong DDQN (Evaluation)</vt:lpstr>
      <vt:lpstr>Pong: Dueling DQN (Training)</vt:lpstr>
      <vt:lpstr>Pong Dueling DQN (Evaluation)</vt:lpstr>
      <vt:lpstr>Pong: Rainbow DQN (Training)</vt:lpstr>
      <vt:lpstr>Pong: Rainbow DQN (Evaluation)</vt:lpstr>
      <vt:lpstr>Pong: PPO (Training)</vt:lpstr>
      <vt:lpstr>Pong PPO (Evaluation)</vt:lpstr>
      <vt:lpstr>Summary Table</vt:lpstr>
      <vt:lpstr>Demo</vt:lpstr>
      <vt:lpstr>Challenges</vt:lpstr>
      <vt:lpstr>Contribution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Bhargava</dc:creator>
  <cp:lastModifiedBy>Harsh Bhargava</cp:lastModifiedBy>
  <cp:revision>6</cp:revision>
  <dcterms:created xsi:type="dcterms:W3CDTF">2025-05-03T01:28:35Z</dcterms:created>
  <dcterms:modified xsi:type="dcterms:W3CDTF">2025-05-03T02:54:06Z</dcterms:modified>
</cp:coreProperties>
</file>