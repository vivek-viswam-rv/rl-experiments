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49"/>
  </p:notesMasterIdLst>
  <p:sldIdLst>
    <p:sldId id="257" r:id="rId3"/>
    <p:sldId id="266" r:id="rId4"/>
    <p:sldId id="269" r:id="rId5"/>
    <p:sldId id="267" r:id="rId6"/>
    <p:sldId id="258" r:id="rId7"/>
    <p:sldId id="268" r:id="rId8"/>
    <p:sldId id="276" r:id="rId9"/>
    <p:sldId id="270" r:id="rId10"/>
    <p:sldId id="277" r:id="rId11"/>
    <p:sldId id="271" r:id="rId12"/>
    <p:sldId id="278" r:id="rId13"/>
    <p:sldId id="272" r:id="rId14"/>
    <p:sldId id="279" r:id="rId15"/>
    <p:sldId id="273" r:id="rId16"/>
    <p:sldId id="280" r:id="rId17"/>
    <p:sldId id="281" r:id="rId18"/>
    <p:sldId id="303" r:id="rId19"/>
    <p:sldId id="283" r:id="rId20"/>
    <p:sldId id="288" r:id="rId21"/>
    <p:sldId id="284" r:id="rId22"/>
    <p:sldId id="289" r:id="rId23"/>
    <p:sldId id="286" r:id="rId24"/>
    <p:sldId id="290" r:id="rId25"/>
    <p:sldId id="285" r:id="rId26"/>
    <p:sldId id="291" r:id="rId27"/>
    <p:sldId id="287" r:id="rId28"/>
    <p:sldId id="292" r:id="rId29"/>
    <p:sldId id="306" r:id="rId30"/>
    <p:sldId id="309" r:id="rId31"/>
    <p:sldId id="293" r:id="rId32"/>
    <p:sldId id="294" r:id="rId33"/>
    <p:sldId id="295" r:id="rId34"/>
    <p:sldId id="296" r:id="rId35"/>
    <p:sldId id="297" r:id="rId36"/>
    <p:sldId id="298" r:id="rId37"/>
    <p:sldId id="299" r:id="rId38"/>
    <p:sldId id="300" r:id="rId39"/>
    <p:sldId id="301" r:id="rId40"/>
    <p:sldId id="302" r:id="rId41"/>
    <p:sldId id="307" r:id="rId42"/>
    <p:sldId id="308" r:id="rId43"/>
    <p:sldId id="275" r:id="rId44"/>
    <p:sldId id="282" r:id="rId45"/>
    <p:sldId id="304" r:id="rId46"/>
    <p:sldId id="305" r:id="rId47"/>
    <p:sldId id="311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2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F6BA77-2476-473E-89EB-9E57F59DAA33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20DCEA-F05E-4E52-8F87-F891EEBC7F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9556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20DCEA-F05E-4E52-8F87-F891EEBC7FC5}" type="slidenum">
              <a:rPr lang="en-IN" smtClean="0"/>
              <a:t>44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9675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65AA6-FA59-37BB-1116-10DCC436E1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1D7DB1-A383-E036-C53A-45667A6D1C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05A9D-E94E-90F4-2FC6-EAC58F3F0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FFF722-1E70-100F-0BA8-D420A4959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284ADE-91E6-19A3-1FB3-7064834EF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28296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E6E55-BC16-035E-0FF5-8F16B7746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D9ED4B-5930-7009-7AD4-D895909BD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20AAC8-910D-422F-99E5-A9279F985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844A30-F53D-CFC0-1AB0-DB43DB0F60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D0C38-5845-5229-8649-AEE070C24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5070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6933F-89A1-17BB-83D7-ADFE16CD5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FE3E53-7002-9E42-D3F2-7962ED576A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F505B-35C4-E85C-E261-F7A795EFD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FAE927-5C63-A3D6-013C-579E9B975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7CEB5-8B7B-D5E9-63E4-13344777A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488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A733A-D869-9CE9-0E8E-73F27EE4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CA1D2-84DA-7BC3-EE49-201844FC0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C1AD1F-56F5-ECCB-DAEA-F7500995D9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0F033F-7A0A-814C-5789-1E58E52C6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5EDF8-31B7-C076-64FC-5FCDEDB05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D53A22-83CF-0A61-0C1B-4C5D8777E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0820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FFCC4-2C4B-77AF-83A3-5EAB41FB0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848FA-2BCB-F2DD-ED9D-B60C83742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C6B974-D060-AE44-A217-3F14BCA78F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DCDC68-1224-2832-6EDC-B325471814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5F3F33-7466-6379-A9D8-A636904CE5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4B3507-AB8A-7E0A-385A-99C83477C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3F39EE-DFE4-9864-9D61-A2E91E14D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E100CB-5D36-9524-3D76-A3B2A90F4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02462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E905D-DBAA-9014-230A-1AEF9AA02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D8C19-01B8-0B28-4110-C857442D1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7E54A8-71C2-86EF-8839-9DD9FDB9E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61E694-6ED8-C793-C695-ED58956AB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3273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FA8468-F886-AC5F-8E8A-3D9C0F41C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577EB8-6B90-B98A-E042-C5FC0FE43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452DBA-2976-54AA-A794-560E9C44D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77230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25B2B-617A-EBB6-BE8E-ECB853F39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413C9-61BB-EA11-31B1-6073DE9DAE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59EE0E-D19C-565B-67DE-78B084DE39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CC87C2-AB12-AEE5-C477-BF3936A2F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302B2E-A2D1-0874-6045-33833F7A2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391CAF-152E-60FA-5902-636B3CE20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32625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5AC68-D1BB-6F9E-DA36-BDE36E7A8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E4B4F4-C0CA-C98E-3895-C3065EE37A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6FD367-4F75-28A1-6010-F3D13187B9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CAC41C-7144-043D-0354-168C26BD9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A7F274-C2D8-3F78-87EE-EF0352321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14AAC0-87D1-11C1-9BBC-06C93BD02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9762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5B5F1-53EB-7A46-6B4C-D9C0A0CAB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A21CA8-A85B-2020-1ADD-005DF69134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7C3699-89D9-5B0F-E49F-A974853BB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8A2580-9AD9-3DE7-33B4-ECBDBC222B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E58291-B10F-A6BC-0F60-8F5091E7B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64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1E50C4-3E99-35F0-8465-EDF01251DE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D30687-392C-0482-2543-4699DD4E9B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B811B-FCBE-D2CD-F385-E7E81EEE0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4C11E-5ADF-E6E1-22C7-B3CEA9FB4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02EE6B-1A04-5A7C-58BB-E93140464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3547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58368" y="3968496"/>
            <a:ext cx="6638544" cy="1650381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>
              <a:buNone/>
              <a:defRPr sz="2800" b="0" i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pPr lvl="0"/>
            <a:r>
              <a:rPr lang="en-US" dirty="0"/>
              <a:t>Sub-topic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58368" y="1490472"/>
            <a:ext cx="6638544" cy="2386584"/>
          </a:xfrm>
          <a:prstGeom prst="rect">
            <a:avLst/>
          </a:prstGeom>
          <a:ln>
            <a:noFill/>
          </a:ln>
        </p:spPr>
        <p:txBody>
          <a:bodyPr lIns="0" anchor="b">
            <a:noAutofit/>
          </a:bodyPr>
          <a:lstStyle>
            <a:lvl1pPr algn="l">
              <a:lnSpc>
                <a:spcPts val="5800"/>
              </a:lnSpc>
              <a:defRPr sz="6000" b="1" i="0" cap="all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 dirty="0"/>
              <a:t>Presentation</a:t>
            </a:r>
            <a:br>
              <a:rPr lang="en-US" dirty="0"/>
            </a:br>
            <a:r>
              <a:rPr lang="en-US" dirty="0"/>
              <a:t>Title</a:t>
            </a:r>
          </a:p>
        </p:txBody>
      </p:sp>
      <p:pic>
        <p:nvPicPr>
          <p:cNvPr id="8" name="Picture 7" descr="University at Buffalo, The State University of New York logo">
            <a:extLst>
              <a:ext uri="{FF2B5EF4-FFF2-40B4-BE49-F238E27FC236}">
                <a16:creationId xmlns:a16="http://schemas.microsoft.com/office/drawing/2014/main" id="{9C7DE7FF-FD86-434E-91D5-DF1AA23EE75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6041226"/>
            <a:ext cx="4800600" cy="356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5675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58368" y="3968496"/>
            <a:ext cx="6638544" cy="1650381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>
              <a:buNone/>
              <a:defRPr sz="2800" b="0" i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pPr lvl="0"/>
            <a:r>
              <a:rPr lang="en-US" dirty="0"/>
              <a:t>Sub-topic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58368" y="1490472"/>
            <a:ext cx="6638544" cy="2386584"/>
          </a:xfrm>
          <a:prstGeom prst="rect">
            <a:avLst/>
          </a:prstGeom>
          <a:ln>
            <a:noFill/>
          </a:ln>
        </p:spPr>
        <p:txBody>
          <a:bodyPr lIns="0" anchor="b">
            <a:noAutofit/>
          </a:bodyPr>
          <a:lstStyle>
            <a:lvl1pPr algn="l">
              <a:lnSpc>
                <a:spcPts val="5800"/>
              </a:lnSpc>
              <a:defRPr sz="6000" b="1" i="0" cap="all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 dirty="0"/>
              <a:t>Presentation</a:t>
            </a:r>
            <a:br>
              <a:rPr lang="en-US" dirty="0"/>
            </a:br>
            <a:r>
              <a:rPr lang="en-US" dirty="0"/>
              <a:t>Title</a:t>
            </a:r>
          </a:p>
        </p:txBody>
      </p:sp>
      <p:pic>
        <p:nvPicPr>
          <p:cNvPr id="8" name="Picture 7" descr="University at Buffalo, The State University of New York logo">
            <a:extLst>
              <a:ext uri="{FF2B5EF4-FFF2-40B4-BE49-F238E27FC236}">
                <a16:creationId xmlns:a16="http://schemas.microsoft.com/office/drawing/2014/main" id="{9C7DE7FF-FD86-434E-91D5-DF1AA23EE75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6041226"/>
            <a:ext cx="4800600" cy="356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4043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 hasCustomPrompt="1"/>
          </p:nvPr>
        </p:nvSpPr>
        <p:spPr>
          <a:xfrm>
            <a:off x="658368" y="1490663"/>
            <a:ext cx="6638544" cy="2387600"/>
          </a:xfrm>
          <a:prstGeom prst="rect">
            <a:avLst/>
          </a:prstGeom>
          <a:ln>
            <a:noFill/>
          </a:ln>
        </p:spPr>
        <p:txBody>
          <a:bodyPr lIns="0" anchor="b">
            <a:noAutofit/>
          </a:bodyPr>
          <a:lstStyle>
            <a:lvl1pPr algn="l">
              <a:lnSpc>
                <a:spcPts val="5800"/>
              </a:lnSpc>
              <a:defRPr sz="6000" b="1" i="0" cap="all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 dirty="0"/>
              <a:t>DIVIDER SLIDE</a:t>
            </a:r>
          </a:p>
        </p:txBody>
      </p:sp>
      <p:sp>
        <p:nvSpPr>
          <p:cNvPr id="6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58368" y="3970337"/>
            <a:ext cx="6638544" cy="2212976"/>
          </a:xfrm>
          <a:prstGeom prst="rect">
            <a:avLst/>
          </a:prstGeom>
          <a:ln>
            <a:noFill/>
          </a:ln>
        </p:spPr>
        <p:txBody>
          <a:bodyPr lIns="0">
            <a:noAutofit/>
          </a:bodyPr>
          <a:lstStyle>
            <a:lvl1pPr marL="0" indent="0" algn="l">
              <a:buNone/>
              <a:defRPr sz="2800" b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Section title</a:t>
            </a:r>
          </a:p>
        </p:txBody>
      </p:sp>
      <p:pic>
        <p:nvPicPr>
          <p:cNvPr id="7" name="Picture 6" descr="University at Buffalo, The State University of New York logo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0" y="321146"/>
            <a:ext cx="4800600" cy="356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044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049F-7F34-5D48-8F72-755B85F3E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6951472" cy="59093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6810-DD61-C649-9461-59FA66CD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6951472" cy="396824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420E5-CF10-E744-8836-DA131F3DFEC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80620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ulleted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049F-7F34-5D48-8F72-755B85F3E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6951472" cy="59093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6810-DD61-C649-9461-59FA66CD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6951472" cy="396824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51F46-BA21-2546-AE85-93B56EC061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9238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and 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52B2E-D090-724F-8681-FBE0CDA2F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10515600" cy="59093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559530-982F-0F4F-B296-9DB2F44D80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6928" y="2185416"/>
            <a:ext cx="4500372" cy="394868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0367C6-4AC8-9C47-BDFA-A5613CF90E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10200" y="2185416"/>
            <a:ext cx="4498848" cy="395020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1A3F1F-FF47-0844-82BA-F475FCD0AAB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63565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5C5C1-32E2-374C-809B-D54BEC11E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10515600" cy="590931"/>
          </a:xfrm>
        </p:spPr>
        <p:txBody>
          <a:bodyPr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8817A-73B4-F340-8D0E-FB813E55F79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6928" y="2185416"/>
            <a:ext cx="5138928" cy="393192"/>
          </a:xfrm>
        </p:spPr>
        <p:txBody>
          <a:bodyPr anchor="t" anchorCtr="0">
            <a:spAutoFit/>
          </a:bodyPr>
          <a:lstStyle>
            <a:lvl1pPr marL="0" indent="0">
              <a:buNone/>
              <a:defRPr sz="1600" b="1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126641-0094-3D49-865E-3DB9ECAC43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66928" y="2593340"/>
            <a:ext cx="5140515" cy="3535744"/>
          </a:xfrm>
        </p:spPr>
        <p:txBody>
          <a:bodyPr/>
          <a:lstStyle>
            <a:lvl1pPr marL="285750" indent="-285750"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E11705-25F9-194A-9D2F-C9FEEA3A5744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2185416"/>
            <a:ext cx="5138928" cy="394980"/>
          </a:xfrm>
        </p:spPr>
        <p:txBody>
          <a:bodyPr anchor="t" anchorCtr="0">
            <a:spAutoFit/>
          </a:bodyPr>
          <a:lstStyle>
            <a:lvl1pPr marL="0" indent="0">
              <a:buNone/>
              <a:defRPr sz="1600" b="1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978716-6004-6344-B5D2-C780B062C9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90800"/>
            <a:ext cx="5138928" cy="3538728"/>
          </a:xfrm>
        </p:spPr>
        <p:txBody>
          <a:bodyPr/>
          <a:lstStyle>
            <a:lvl1pPr marL="285750" indent="-285750"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CA91F9-8796-3D42-B75E-9C7F7D9B735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704423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A2439-3BDA-DB47-AA02-5590274D4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A2EBF7-C6C5-4541-B47E-7FB413A3DF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720639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613847-6053-FF4A-A422-D886A866F53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16366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DC6EF38F-8DF7-3941-B22C-502232E4CB0B}"/>
              </a:ext>
            </a:extLst>
          </p:cNvPr>
          <p:cNvSpPr>
            <a:spLocks noGrp="1" noChangeAspect="1"/>
          </p:cNvSpPr>
          <p:nvPr>
            <p:ph type="pic" idx="13"/>
          </p:nvPr>
        </p:nvSpPr>
        <p:spPr>
          <a:xfrm>
            <a:off x="5098566" y="927100"/>
            <a:ext cx="7093434" cy="59309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t">
            <a:normAutofit/>
          </a:bodyPr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 dirty="0"/>
          </a:p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82049F-7F34-5D48-8F72-755B85F3E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4248912" cy="590931"/>
          </a:xfrm>
        </p:spPr>
        <p:txBody>
          <a:bodyPr/>
          <a:lstStyle/>
          <a:p>
            <a:r>
              <a:rPr lang="en-US" dirty="0"/>
              <a:t>Click to edit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6810-DD61-C649-9461-59FA66CD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4248912" cy="396824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8C17C1-D75E-7F4A-895D-15D9E2D1D38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94225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hree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049F-7F34-5D48-8F72-755B85F3E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4248912" cy="590931"/>
          </a:xfrm>
        </p:spPr>
        <p:txBody>
          <a:bodyPr/>
          <a:lstStyle/>
          <a:p>
            <a:r>
              <a:rPr lang="en-US" dirty="0"/>
              <a:t>Click to edit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6810-DD61-C649-9461-59FA66CD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4248912" cy="396824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0CAA554F-B37C-9E47-B5E4-82235D4EC6CD}"/>
              </a:ext>
            </a:extLst>
          </p:cNvPr>
          <p:cNvSpPr>
            <a:spLocks noGrp="1" noChangeAspect="1"/>
          </p:cNvSpPr>
          <p:nvPr>
            <p:ph type="pic" idx="13"/>
          </p:nvPr>
        </p:nvSpPr>
        <p:spPr>
          <a:xfrm>
            <a:off x="5114631" y="934720"/>
            <a:ext cx="7077369" cy="306467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</p:spPr>
        <p:txBody>
          <a:bodyPr anchor="t">
            <a:normAutofit/>
          </a:bodyPr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 dirty="0"/>
          </a:p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9F5FDDA2-E7AF-294B-ACDF-BDB5997277BC}"/>
              </a:ext>
            </a:extLst>
          </p:cNvPr>
          <p:cNvSpPr>
            <a:spLocks noGrp="1" noChangeAspect="1"/>
          </p:cNvSpPr>
          <p:nvPr>
            <p:ph type="pic" idx="14"/>
          </p:nvPr>
        </p:nvSpPr>
        <p:spPr>
          <a:xfrm>
            <a:off x="5114631" y="3998296"/>
            <a:ext cx="3602522" cy="28575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</p:spPr>
        <p:txBody>
          <a:bodyPr anchor="t">
            <a:normAutofit/>
          </a:bodyPr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 dirty="0"/>
          </a:p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F2499D1A-BF4E-8444-BF94-86863CA11648}"/>
              </a:ext>
            </a:extLst>
          </p:cNvPr>
          <p:cNvSpPr>
            <a:spLocks noGrp="1" noChangeAspect="1"/>
          </p:cNvSpPr>
          <p:nvPr>
            <p:ph type="pic" idx="15"/>
          </p:nvPr>
        </p:nvSpPr>
        <p:spPr>
          <a:xfrm>
            <a:off x="8701089" y="3998296"/>
            <a:ext cx="3490912" cy="28575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</p:spPr>
        <p:txBody>
          <a:bodyPr anchor="t">
            <a:normAutofit/>
          </a:bodyPr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 dirty="0"/>
          </a:p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F90DAFF-101D-E948-A7EE-D57686CEB2D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070757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Wid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947F2-B572-1341-97A2-03F799FC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21EA68-2B0A-7648-9710-0081FFDD7D68}"/>
              </a:ext>
            </a:extLst>
          </p:cNvPr>
          <p:cNvSpPr>
            <a:spLocks noGrp="1" noChangeAspect="1"/>
          </p:cNvSpPr>
          <p:nvPr>
            <p:ph type="pic" idx="13"/>
          </p:nvPr>
        </p:nvSpPr>
        <p:spPr>
          <a:xfrm>
            <a:off x="0" y="927100"/>
            <a:ext cx="12192000" cy="59309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t">
            <a:normAutofit/>
          </a:bodyPr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 dirty="0"/>
          </a:p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1C2F5B-0BEC-1B48-AF19-F70CBF88DDD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16770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049F-7F34-5D48-8F72-755B85F3E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4248912" cy="590931"/>
          </a:xfrm>
        </p:spPr>
        <p:txBody>
          <a:bodyPr/>
          <a:lstStyle/>
          <a:p>
            <a:r>
              <a:rPr lang="en-US" dirty="0"/>
              <a:t>Click to edit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6810-DD61-C649-9461-59FA66CD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4248912" cy="396824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hart Placeholder 2">
            <a:extLst>
              <a:ext uri="{FF2B5EF4-FFF2-40B4-BE49-F238E27FC236}">
                <a16:creationId xmlns:a16="http://schemas.microsoft.com/office/drawing/2014/main" id="{7B782143-2792-E14B-AE51-0FFA9028EB8A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5161935" y="1976285"/>
            <a:ext cx="6325152" cy="396731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none"/>
        </p:style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endParaRPr lang="en-US" dirty="0"/>
          </a:p>
          <a:p>
            <a:r>
              <a:rPr lang="en-US" dirty="0"/>
              <a:t>Drag chart to placeholder or click icon to add chart</a:t>
            </a:r>
          </a:p>
          <a:p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FBFC18-7AE9-1C44-9039-61F804A6140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80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58E28A-FA9C-1F94-4AAF-7D1EA9EE2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22C0BD-9D45-A2BC-556F-135F86586F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BB0EA5-5231-11B4-D8B6-B8556F91ED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12CF34-2F03-E81E-AB80-02FA34A922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124ACB-F6A6-5E1E-A4B3-4198394D29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94202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1614BA-85C5-BA49-A402-F7BCCCDB2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10515600" cy="590931"/>
          </a:xfrm>
          <a:prstGeom prst="rect">
            <a:avLst/>
          </a:prstGeom>
        </p:spPr>
        <p:txBody>
          <a:bodyPr vert="horz" lIns="91440" tIns="45720" rIns="91440" bIns="45720" rtlCol="0" anchor="b" anchorCtr="0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A66ADF-AEA5-DC4B-841D-168372B89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6928" y="2185416"/>
            <a:ext cx="10515600" cy="39682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9" name="Picture 8" descr="University at Buffalo, The State University of New York logo">
            <a:extLst>
              <a:ext uri="{FF2B5EF4-FFF2-40B4-BE49-F238E27FC236}">
                <a16:creationId xmlns:a16="http://schemas.microsoft.com/office/drawing/2014/main" id="{27B0F206-4721-B742-B71F-C0AADA23A984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0" y="321146"/>
            <a:ext cx="4800600" cy="356029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D4790E-48FE-324B-A4AD-34E3A7792E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74280" y="631977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tx1"/>
                </a:solidFill>
              </a:defRPr>
            </a:lvl1pPr>
          </a:lstStyle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72498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0" i="0" kern="1200">
          <a:solidFill>
            <a:schemeClr val="tx2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600"/>
        </a:spcBef>
        <a:buClr>
          <a:schemeClr val="tx2"/>
        </a:buClr>
        <a:buSzPct val="120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130000"/>
        </a:lnSpc>
        <a:spcBef>
          <a:spcPts val="600"/>
        </a:spcBef>
        <a:buClr>
          <a:schemeClr val="tx2"/>
        </a:buClr>
        <a:buSzPct val="120000"/>
        <a:buFont typeface="System Font Regular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130000"/>
        </a:lnSpc>
        <a:spcBef>
          <a:spcPts val="600"/>
        </a:spcBef>
        <a:buClr>
          <a:schemeClr val="tx2"/>
        </a:buClr>
        <a:buSzPct val="120000"/>
        <a:buFont typeface="System Font Regular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130000"/>
        </a:lnSpc>
        <a:spcBef>
          <a:spcPts val="600"/>
        </a:spcBef>
        <a:buClr>
          <a:schemeClr val="tx2"/>
        </a:buClr>
        <a:buSzPct val="120000"/>
        <a:buFont typeface="System Font Regular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130000"/>
        </a:lnSpc>
        <a:spcBef>
          <a:spcPts val="600"/>
        </a:spcBef>
        <a:buClr>
          <a:schemeClr val="tx2"/>
        </a:buClr>
        <a:buSzPct val="120000"/>
        <a:buFont typeface="System Font Regular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8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vek-viswam-rv/cse-546-final-project/tree/mai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69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esentation Title">
            <a:extLst>
              <a:ext uri="{FF2B5EF4-FFF2-40B4-BE49-F238E27FC236}">
                <a16:creationId xmlns:a16="http://schemas.microsoft.com/office/drawing/2014/main" id="{1089AC9A-5D7D-5A4C-8605-7607252D4F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8368" y="45831"/>
            <a:ext cx="6638544" cy="2386584"/>
          </a:xfrm>
        </p:spPr>
        <p:txBody>
          <a:bodyPr/>
          <a:lstStyle/>
          <a:p>
            <a:r>
              <a:rPr lang="en-US" dirty="0"/>
              <a:t>Exploring RL Algorithms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4C16AB-0F9F-871C-1B92-948C0FC214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8368" y="4340830"/>
            <a:ext cx="6638544" cy="1650381"/>
          </a:xfrm>
        </p:spPr>
        <p:txBody>
          <a:bodyPr/>
          <a:lstStyle/>
          <a:p>
            <a:r>
              <a:rPr lang="en-US" dirty="0"/>
              <a:t>Course: Reinforcement Learning</a:t>
            </a:r>
          </a:p>
          <a:p>
            <a:r>
              <a:rPr lang="en-US" dirty="0"/>
              <a:t>Instructor: Professor Alina Vereshchaka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A522450-6955-AAB1-AC76-81F20CE64246}"/>
              </a:ext>
            </a:extLst>
          </p:cNvPr>
          <p:cNvSpPr txBox="1">
            <a:spLocks/>
          </p:cNvSpPr>
          <p:nvPr/>
        </p:nvSpPr>
        <p:spPr>
          <a:xfrm>
            <a:off x="658368" y="2690449"/>
            <a:ext cx="6638544" cy="1650381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0" i="0" kern="120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Presenters: Harsh Bhargava </a:t>
            </a:r>
          </a:p>
          <a:p>
            <a:r>
              <a:rPr lang="en-US" dirty="0"/>
              <a:t>			and </a:t>
            </a:r>
          </a:p>
          <a:p>
            <a:r>
              <a:rPr lang="en-US" dirty="0"/>
              <a:t>		Vivek Viswam R. V.</a:t>
            </a:r>
          </a:p>
        </p:txBody>
      </p:sp>
    </p:spTree>
    <p:extLst>
      <p:ext uri="{BB962C8B-B14F-4D97-AF65-F5344CB8AC3E}">
        <p14:creationId xmlns:p14="http://schemas.microsoft.com/office/powerpoint/2010/main" val="4078184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88DBE833-A922-5747-A36B-4314D3116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</a:p>
        </p:txBody>
      </p:sp>
      <p:sp>
        <p:nvSpPr>
          <p:cNvPr id="3" name="Slide Text">
            <a:extLst>
              <a:ext uri="{FF2B5EF4-FFF2-40B4-BE49-F238E27FC236}">
                <a16:creationId xmlns:a16="http://schemas.microsoft.com/office/drawing/2014/main" id="{38F3A7AD-BFCA-B14B-8363-A4C1A4B746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8508978" cy="396824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aim is to compare the performance of multiple advanced RL algorithms with the baseline algorithms implemented in Assignment-2 on multiple environments.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1E758566-FAE7-1B41-AABE-FDB3CDFB0B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F97EF4A-40C6-024D-A945-B03D1BBD02F7}" type="slidenum">
              <a:rPr kumimoji="0" lang="en-US" sz="1600" b="1" i="0" u="none" strike="noStrike" kern="1200" cap="none" spc="0" normalizeH="0" baseline="0" noProof="0" smtClean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76775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4B187-6277-CD39-8D83-746AA70B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 Implemented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09CAB-8F0C-C29E-6DDA-C3E95CD7A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Vanilla DQN (Baseline)</a:t>
            </a:r>
          </a:p>
          <a:p>
            <a:r>
              <a:rPr lang="en-US" dirty="0"/>
              <a:t>DDQN (Baseline)</a:t>
            </a:r>
          </a:p>
          <a:p>
            <a:r>
              <a:rPr lang="en-US" dirty="0"/>
              <a:t>Dueling DQN</a:t>
            </a:r>
          </a:p>
          <a:p>
            <a:r>
              <a:rPr lang="en-US" dirty="0"/>
              <a:t>Rainbow DQN</a:t>
            </a:r>
          </a:p>
          <a:p>
            <a:r>
              <a:rPr lang="en-US" dirty="0"/>
              <a:t>PPO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EF74CF-8AD1-B45E-12AC-758C4EA3118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5868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C8D75-FB98-1BC8-BDA9-002FE7DFD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Environments Explored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7EA881-FDC3-CD73-8868-46EB0737467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4026E2-01CA-E6EE-27DE-5AEB4F4D300F}"/>
              </a:ext>
            </a:extLst>
          </p:cNvPr>
          <p:cNvSpPr txBox="1"/>
          <p:nvPr/>
        </p:nvSpPr>
        <p:spPr>
          <a:xfrm>
            <a:off x="566928" y="2598344"/>
            <a:ext cx="4010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Atari Pong : PongNoFrameSkip-v4</a:t>
            </a:r>
            <a:endParaRPr lang="en-IN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FB901F-C8CC-94C3-DC9F-DA028CFAC06C}"/>
              </a:ext>
            </a:extLst>
          </p:cNvPr>
          <p:cNvSpPr txBox="1"/>
          <p:nvPr/>
        </p:nvSpPr>
        <p:spPr>
          <a:xfrm>
            <a:off x="5318408" y="2598954"/>
            <a:ext cx="2051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Lunar Lander-v3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C206D8-D4EB-37E1-C822-1BE4FAAE8838}"/>
              </a:ext>
            </a:extLst>
          </p:cNvPr>
          <p:cNvSpPr txBox="1"/>
          <p:nvPr/>
        </p:nvSpPr>
        <p:spPr>
          <a:xfrm>
            <a:off x="9751804" y="2598344"/>
            <a:ext cx="1655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Acrobot-v1</a:t>
            </a:r>
            <a:endParaRPr lang="en-IN" b="1" dirty="0"/>
          </a:p>
        </p:txBody>
      </p:sp>
      <p:pic>
        <p:nvPicPr>
          <p:cNvPr id="9" name="Picture 8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41E4759A-8CD6-DD03-905E-ADDEC5EF6E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7" y="3275770"/>
            <a:ext cx="3859975" cy="3173345"/>
          </a:xfrm>
          <a:prstGeom prst="rect">
            <a:avLst/>
          </a:prstGeom>
        </p:spPr>
      </p:pic>
      <p:pic>
        <p:nvPicPr>
          <p:cNvPr id="11" name="Picture 10" descr="A video game with a purple car&#10;&#10;AI-generated content may be incorrect.">
            <a:extLst>
              <a:ext uri="{FF2B5EF4-FFF2-40B4-BE49-F238E27FC236}">
                <a16:creationId xmlns:a16="http://schemas.microsoft.com/office/drawing/2014/main" id="{95BAFBAD-2FC5-81DA-1A28-6E17C95515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8700" y="3714174"/>
            <a:ext cx="4010686" cy="2106559"/>
          </a:xfrm>
          <a:prstGeom prst="rect">
            <a:avLst/>
          </a:prstGeom>
        </p:spPr>
      </p:pic>
      <p:pic>
        <p:nvPicPr>
          <p:cNvPr id="13" name="Picture 12" descr="A blue and yellow curved object&#10;&#10;AI-generated content may be incorrect.">
            <a:extLst>
              <a:ext uri="{FF2B5EF4-FFF2-40B4-BE49-F238E27FC236}">
                <a16:creationId xmlns:a16="http://schemas.microsoft.com/office/drawing/2014/main" id="{B80FF1AB-4D5B-420D-DDA1-8C0B1C2748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2655" y="3714173"/>
            <a:ext cx="2870989" cy="2106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535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-topic">
            <a:extLst>
              <a:ext uri="{FF2B5EF4-FFF2-40B4-BE49-F238E27FC236}">
                <a16:creationId xmlns:a16="http://schemas.microsoft.com/office/drawing/2014/main" id="{B0882130-6200-324C-8A79-B506D34288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5" name="Section Divider Title">
            <a:extLst>
              <a:ext uri="{FF2B5EF4-FFF2-40B4-BE49-F238E27FC236}">
                <a16:creationId xmlns:a16="http://schemas.microsoft.com/office/drawing/2014/main" id="{F57E7746-DDC4-614A-A7D1-B72950AB52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51841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107C9-150B-C55F-D340-B2E19D544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DQN (Training)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5FB41C-5C77-18F0-79C3-F882360324E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AD50733-5EB9-E437-39DE-22C77AC847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082" y="2796518"/>
            <a:ext cx="5113265" cy="2817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2088A30D-DA00-9B80-7B5D-C47E95310E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1623" y="2831471"/>
            <a:ext cx="5193955" cy="2885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3620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D7A66-589C-4750-B586-0AB03AB09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DQN (Evaluation)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9312A8-D54C-27B1-D94C-9748C170E5A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A6EC89B-F05F-3ABE-9582-88F603B7CC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467" y="2621361"/>
            <a:ext cx="5257307" cy="2934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374DBBB0-2DF7-244A-7CEA-6415501BB0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9073" y="2590748"/>
            <a:ext cx="5428826" cy="3023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8237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BBCD5-741C-6AFA-01F5-B8DFBD63E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DDQN (Training)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F74ED1-0777-DAD5-5945-A33F1FA690A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A2B400B-7C44-2388-70D7-82A66858B3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168" y="2589196"/>
            <a:ext cx="5680937" cy="3130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FB47781B-A9D0-62A3-B05D-3CBF4378A2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5683" y="2620007"/>
            <a:ext cx="5680937" cy="3156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5033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C7170-8676-0427-9E1E-06B5F775F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 DDQN (Evaluation)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1A4230-E31A-AD68-659A-84A4ED862E6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4115924-6A82-84E6-0DA5-8B60F75D4A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926" y="2696441"/>
            <a:ext cx="4842470" cy="2661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70B1947B-ABBC-9320-5468-19144C363C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588473"/>
            <a:ext cx="5284272" cy="2877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5361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93A5F-6F3D-6018-E8FC-BB54F714F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Dueling DQN (Training)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2BD112-D294-537A-DC31-04F1D9BCEBD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8D00D1E-1973-AC7B-0611-D304B5D15F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870" y="2375925"/>
            <a:ext cx="5831130" cy="3212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B72FAD61-CCD1-CEF6-8A38-C4E7E9386C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4173" y="2412910"/>
            <a:ext cx="5716704" cy="3175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68923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FA2DF-5701-173A-B582-27B3D98A3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6951472" cy="590931"/>
          </a:xfrm>
        </p:spPr>
        <p:txBody>
          <a:bodyPr/>
          <a:lstStyle/>
          <a:p>
            <a:r>
              <a:rPr lang="en-US" dirty="0"/>
              <a:t>Pong Dueling DQN (Evaluation)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117401-0BCD-E439-267B-CC8B34C8D5D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5A72A6B-14F6-8661-6852-6F8C43573A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561" y="2510756"/>
            <a:ext cx="5634439" cy="3148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2D2AD160-8BCE-7DA4-D39F-ACD74D44D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5056" y="2510756"/>
            <a:ext cx="5634439" cy="3097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89741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021F7-1293-409F-2475-5B8B68897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Rainbow DQN (Training)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4A1B90-ACD9-3E01-DDDB-0C71E9C21F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5787BF01-F8ED-3BC8-5891-2868CFCE11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075" y="2628079"/>
            <a:ext cx="5327299" cy="2935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22318196-6E67-F5D4-0E6D-1F55BF392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778834"/>
            <a:ext cx="4837596" cy="2687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3209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3876D4-B67D-D2FB-28F4-09A23859A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01018"/>
            <a:ext cx="7922554" cy="1089529"/>
          </a:xfrm>
        </p:spPr>
        <p:txBody>
          <a:bodyPr/>
          <a:lstStyle/>
          <a:p>
            <a:r>
              <a:rPr lang="en-US" dirty="0"/>
              <a:t>Pong: Rainbow DQN (Evaluation)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571FD3-AD12-E54D-0CF0-DD57580AF3A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ABF17EAC-6770-AE63-04E9-249E0D7C5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928" y="2657378"/>
            <a:ext cx="5146412" cy="2829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4AD2BE67-5AF9-60B1-411F-B27B780148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2390" y="2657378"/>
            <a:ext cx="5146412" cy="2829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6543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03B28-2ABA-265F-C914-9026DDA21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PPO (Training)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DBADC1-4AD6-BE17-BFD5-5D792DC21EB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3C3145CA-4E19-9B00-A001-DC05D02A5B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059" y="2659736"/>
            <a:ext cx="5637450" cy="3106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>
            <a:extLst>
              <a:ext uri="{FF2B5EF4-FFF2-40B4-BE49-F238E27FC236}">
                <a16:creationId xmlns:a16="http://schemas.microsoft.com/office/drawing/2014/main" id="{AF4A3FDF-CD33-74AE-87F5-4B3AE4EC46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0557" y="2659736"/>
            <a:ext cx="5558143" cy="3106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99511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F9E2B-DE49-EEFF-CAA8-0145B3E25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 PPO (Evaluation)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B52494-97F0-BA49-EB58-2C3D6826CC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96E58698-A284-7B05-4091-2739443DAB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4304" y="2418542"/>
            <a:ext cx="7617242" cy="4187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3459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FFFDE-A12A-74C2-BEA9-5432E9111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Table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F0AC1C-8DBD-FBEC-8034-BC01D2E3370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16</a:t>
            </a:fld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DBB9466-4199-39F4-371F-1BEDED8A51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1893370"/>
              </p:ext>
            </p:extLst>
          </p:nvPr>
        </p:nvGraphicFramePr>
        <p:xfrm>
          <a:off x="630302" y="2445411"/>
          <a:ext cx="9375970" cy="3620866"/>
        </p:xfrm>
        <a:graphic>
          <a:graphicData uri="http://schemas.openxmlformats.org/drawingml/2006/table">
            <a:tbl>
              <a:tblPr/>
              <a:tblGrid>
                <a:gridCol w="1198498">
                  <a:extLst>
                    <a:ext uri="{9D8B030D-6E8A-4147-A177-3AD203B41FA5}">
                      <a16:colId xmlns:a16="http://schemas.microsoft.com/office/drawing/2014/main" val="2057819812"/>
                    </a:ext>
                  </a:extLst>
                </a:gridCol>
                <a:gridCol w="1484768">
                  <a:extLst>
                    <a:ext uri="{9D8B030D-6E8A-4147-A177-3AD203B41FA5}">
                      <a16:colId xmlns:a16="http://schemas.microsoft.com/office/drawing/2014/main" val="77746840"/>
                    </a:ext>
                  </a:extLst>
                </a:gridCol>
                <a:gridCol w="939268">
                  <a:extLst>
                    <a:ext uri="{9D8B030D-6E8A-4147-A177-3AD203B41FA5}">
                      <a16:colId xmlns:a16="http://schemas.microsoft.com/office/drawing/2014/main" val="2646348216"/>
                    </a:ext>
                  </a:extLst>
                </a:gridCol>
                <a:gridCol w="1917812">
                  <a:extLst>
                    <a:ext uri="{9D8B030D-6E8A-4147-A177-3AD203B41FA5}">
                      <a16:colId xmlns:a16="http://schemas.microsoft.com/office/drawing/2014/main" val="1562753425"/>
                    </a:ext>
                  </a:extLst>
                </a:gridCol>
                <a:gridCol w="1917812">
                  <a:extLst>
                    <a:ext uri="{9D8B030D-6E8A-4147-A177-3AD203B41FA5}">
                      <a16:colId xmlns:a16="http://schemas.microsoft.com/office/drawing/2014/main" val="4146297063"/>
                    </a:ext>
                  </a:extLst>
                </a:gridCol>
                <a:gridCol w="1917812">
                  <a:extLst>
                    <a:ext uri="{9D8B030D-6E8A-4147-A177-3AD203B41FA5}">
                      <a16:colId xmlns:a16="http://schemas.microsoft.com/office/drawing/2014/main" val="121003210"/>
                    </a:ext>
                  </a:extLst>
                </a:gridCol>
              </a:tblGrid>
              <a:tr h="6200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Algorithm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Stability while training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Early Stopping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 Steps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Training Time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Evaluation Average Reward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1088406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Highly Unstable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~10,870,000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12.5 hours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10.1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4216009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Slightly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~10,360,000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12.5 hours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238861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Dueling 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Moderately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~10,240,000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 hours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7756335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Rainbow 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Moderately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~9,791,000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 hours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1323121"/>
                  </a:ext>
                </a:extLst>
              </a:tr>
              <a:tr h="6200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PPO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Highly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Yes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~5,626,500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3.5 hours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20.6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78237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44858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E9243-4B68-1A34-D681-458CFE059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3135" y="3074169"/>
            <a:ext cx="4285730" cy="709661"/>
          </a:xfrm>
        </p:spPr>
        <p:txBody>
          <a:bodyPr/>
          <a:lstStyle/>
          <a:p>
            <a:r>
              <a:rPr lang="en-US" sz="5400" b="1" dirty="0"/>
              <a:t>Pong Demo</a:t>
            </a:r>
            <a:endParaRPr lang="en-IN" sz="5400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8EC22F-C3DE-3A98-882F-BC2A199A34F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80649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2A0A8-4F3D-5BF3-3A95-054E77165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Lunar Lander: DQN (Training)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FC4D672-4DA5-A93E-B221-C09FDAEF2E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032" y="2260288"/>
            <a:ext cx="4982270" cy="3753374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4E3709-291D-AC80-16EF-3603B4888F4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2B3646C-C028-F751-BA23-8C8DD27E76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0974" y="2260288"/>
            <a:ext cx="4906060" cy="3791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9676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81FEE-8E9F-5E45-7E49-41467AD25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0845F-5513-C048-88D5-DAADAC6D0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6951472" cy="590931"/>
          </a:xfrm>
        </p:spPr>
        <p:txBody>
          <a:bodyPr/>
          <a:lstStyle/>
          <a:p>
            <a:r>
              <a:rPr lang="en-US" dirty="0"/>
              <a:t>Lunar Lander: DQN (Evaluation)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340B7D8-736A-9961-AECA-1D2476523F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69066"/>
            <a:ext cx="4991797" cy="3801005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2F2524-66B4-C477-DE9C-17FC3A86311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C040477-7307-0249-1D56-6AC09644EA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171" y="2269066"/>
            <a:ext cx="5172797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9097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D9347-4179-726C-3563-30CCA4EC8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BC250-3920-3257-9170-7757D9F92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Lunar Lander: DDQN (Training)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A477147-37F3-1BAC-A9F2-2E91347ABF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314151"/>
            <a:ext cx="5001323" cy="3724795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18E4C1-5A25-89CA-F3FE-884C723E42C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E98312-1E28-B19F-331C-4EFB1453F0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694" y="2314151"/>
            <a:ext cx="4801270" cy="373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5681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EF5C0-C5D7-22B1-5B55-0F2700BB0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FB5FC-FCE0-428F-ED87-A023CA830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01018"/>
            <a:ext cx="7550990" cy="1089529"/>
          </a:xfrm>
        </p:spPr>
        <p:txBody>
          <a:bodyPr/>
          <a:lstStyle/>
          <a:p>
            <a:r>
              <a:rPr lang="en-US" dirty="0"/>
              <a:t>Lunar Lander: DDQN (Evaluation)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DF36AB1-8C48-E461-86F5-9D0C264303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52621"/>
            <a:ext cx="4925112" cy="3810532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C63D24-84E6-37B1-DE53-0B03DD94063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B61ACA2-7965-DFD0-1D14-4757734C44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9625" y="2152621"/>
            <a:ext cx="5096586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9048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B2717-4019-2363-FF13-5F30EEACA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29A9B-D3AE-1B5B-B27E-B418CCE91C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01018"/>
            <a:ext cx="8409548" cy="1089529"/>
          </a:xfrm>
        </p:spPr>
        <p:txBody>
          <a:bodyPr/>
          <a:lstStyle/>
          <a:p>
            <a:r>
              <a:rPr lang="en-US" dirty="0"/>
              <a:t>Lunar Lander: Dueling DQN (Training)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389EF9E-57D9-E7EE-A60E-8CFD0E4529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30061"/>
            <a:ext cx="5039428" cy="3753374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68909C-6367-4216-C46F-61ADC10026A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9AB77F9-5087-D06C-5420-CD1C9E3CAE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4386" y="2230061"/>
            <a:ext cx="4867954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9048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4D60C-5F1F-F37E-7C29-15F966500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A0077-5261-3DE6-5900-CFE017841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7" y="1001018"/>
            <a:ext cx="9533353" cy="1089529"/>
          </a:xfrm>
        </p:spPr>
        <p:txBody>
          <a:bodyPr/>
          <a:lstStyle/>
          <a:p>
            <a:r>
              <a:rPr lang="en-US" dirty="0"/>
              <a:t>Lunar Lander: Dueling DQN (Evaluation)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E87999B-091D-57E2-168D-E1E91C5DDE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7" y="2225626"/>
            <a:ext cx="4867954" cy="3734321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42B120-AC21-FCDE-0A71-737C39F62CA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2E8BAF8-066E-B412-0504-F84049A7E2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6846" y="2177994"/>
            <a:ext cx="4982270" cy="3781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16457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718EF-F293-B67E-73BA-475DDA0B1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E909B-0D60-A8FD-109E-DC46830A9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01018"/>
            <a:ext cx="8402568" cy="1089529"/>
          </a:xfrm>
        </p:spPr>
        <p:txBody>
          <a:bodyPr/>
          <a:lstStyle/>
          <a:p>
            <a:r>
              <a:rPr lang="en-US" dirty="0"/>
              <a:t>Lunar Lander: Rainbow DQN (Training)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44A46C9-CE48-193A-F930-AA0E5E41B5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38179"/>
            <a:ext cx="5039428" cy="3772426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8476BF-F81F-2483-2378-E51A8739F1D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B1AFFB-F987-28CB-7638-5B45E6A313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300" y="2090547"/>
            <a:ext cx="4829849" cy="3867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5350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4AB73-2D81-8050-69F6-E64B4B2A2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C861-62FB-CA2B-4EBD-ED860D091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7" y="1001018"/>
            <a:ext cx="9344889" cy="1089529"/>
          </a:xfrm>
        </p:spPr>
        <p:txBody>
          <a:bodyPr/>
          <a:lstStyle/>
          <a:p>
            <a:r>
              <a:rPr lang="en-US" dirty="0"/>
              <a:t>Lunar Lander: Rainbow DQN (Evaluation)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A4020E9-9CE0-5237-2255-DB8CB08348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7" y="2157713"/>
            <a:ext cx="4963218" cy="3772426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94F488-3750-85C9-9AA6-076FA47918C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AE6B44-BF77-2DF7-E20C-47F2987D1A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9947" y="2210259"/>
            <a:ext cx="5058481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8086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29A4D-E284-2025-D7A0-178E3FFAC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BCC4D-7227-3F81-BF01-3D884EC2D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Lunar Lander: PPO (Training)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F8940AA-CFE3-1A61-34AC-6227F329C8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74220"/>
            <a:ext cx="5191850" cy="3753374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8F2144-8651-8D21-787F-26B6B820285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825C59B-38B9-5440-6C89-B4C8AEC1DB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8778" y="2141064"/>
            <a:ext cx="4953691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0202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960D2-BF73-EA72-D080-024DFE87A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83266-3C04-D729-1AB6-FB762922B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Lunar Lander: PPO (Evaluation)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29D234-BE31-E1E9-659A-EB12F018FD3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D049DEAC-AC95-BF56-013E-370F75FF3C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55820"/>
            <a:ext cx="5048955" cy="3781953"/>
          </a:xfr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1AB25F0-0291-06C3-30B8-78E7BDF586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469" y="2255820"/>
            <a:ext cx="4915586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0360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D113A-832C-6C09-557A-FE548881D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B5001-2E10-B783-D49F-8810C78F5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Table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EBED5B-8924-9023-B595-B6066C522EE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B53C135-CEC6-A548-8917-8F7FEB82358B}" type="slidenum">
              <a:rPr kumimoji="0" lang="en-US" sz="1600" b="1" i="0" u="none" strike="noStrike" kern="1200" cap="none" spc="0" normalizeH="0" baseline="0" noProof="0" smtClean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708FEE7-0FC1-4E53-F3CC-9C664EF7CF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647449"/>
              </p:ext>
            </p:extLst>
          </p:nvPr>
        </p:nvGraphicFramePr>
        <p:xfrm>
          <a:off x="630302" y="2445411"/>
          <a:ext cx="9375970" cy="3620866"/>
        </p:xfrm>
        <a:graphic>
          <a:graphicData uri="http://schemas.openxmlformats.org/drawingml/2006/table">
            <a:tbl>
              <a:tblPr/>
              <a:tblGrid>
                <a:gridCol w="1198498">
                  <a:extLst>
                    <a:ext uri="{9D8B030D-6E8A-4147-A177-3AD203B41FA5}">
                      <a16:colId xmlns:a16="http://schemas.microsoft.com/office/drawing/2014/main" val="2057819812"/>
                    </a:ext>
                  </a:extLst>
                </a:gridCol>
                <a:gridCol w="1484768">
                  <a:extLst>
                    <a:ext uri="{9D8B030D-6E8A-4147-A177-3AD203B41FA5}">
                      <a16:colId xmlns:a16="http://schemas.microsoft.com/office/drawing/2014/main" val="77746840"/>
                    </a:ext>
                  </a:extLst>
                </a:gridCol>
                <a:gridCol w="939268">
                  <a:extLst>
                    <a:ext uri="{9D8B030D-6E8A-4147-A177-3AD203B41FA5}">
                      <a16:colId xmlns:a16="http://schemas.microsoft.com/office/drawing/2014/main" val="2646348216"/>
                    </a:ext>
                  </a:extLst>
                </a:gridCol>
                <a:gridCol w="1917812">
                  <a:extLst>
                    <a:ext uri="{9D8B030D-6E8A-4147-A177-3AD203B41FA5}">
                      <a16:colId xmlns:a16="http://schemas.microsoft.com/office/drawing/2014/main" val="1562753425"/>
                    </a:ext>
                  </a:extLst>
                </a:gridCol>
                <a:gridCol w="1917812">
                  <a:extLst>
                    <a:ext uri="{9D8B030D-6E8A-4147-A177-3AD203B41FA5}">
                      <a16:colId xmlns:a16="http://schemas.microsoft.com/office/drawing/2014/main" val="4146297063"/>
                    </a:ext>
                  </a:extLst>
                </a:gridCol>
                <a:gridCol w="1917812">
                  <a:extLst>
                    <a:ext uri="{9D8B030D-6E8A-4147-A177-3AD203B41FA5}">
                      <a16:colId xmlns:a16="http://schemas.microsoft.com/office/drawing/2014/main" val="121003210"/>
                    </a:ext>
                  </a:extLst>
                </a:gridCol>
              </a:tblGrid>
              <a:tr h="6200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Algorithm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Stability while training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Early Stopping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Training Episodes Till Convergence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Average Reward</a:t>
                      </a:r>
                    </a:p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(Evaluation)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  <a:r>
                        <a:rPr lang="en-IN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psilon</a:t>
                      </a:r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Decay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1088406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Highly Unstable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257.65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Linear Decay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4216009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Slightly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1628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248.18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Linear Decay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238861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Dueling 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Moderately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1058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264.94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Linear Decay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7756335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Rainbow 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Moderately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764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270.44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Linear Decay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1323121"/>
                  </a:ext>
                </a:extLst>
              </a:tr>
              <a:tr h="6200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PPO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Highly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Yes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 convergence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-256.96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 Epsilon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78237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7689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97670-023F-BB4A-BD87-5F2057AA5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2F5D0-848C-5204-796F-F3661003E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1505" y="3010825"/>
            <a:ext cx="7468990" cy="836349"/>
          </a:xfrm>
        </p:spPr>
        <p:txBody>
          <a:bodyPr/>
          <a:lstStyle/>
          <a:p>
            <a:r>
              <a:rPr lang="en-US" sz="5400" b="1" dirty="0"/>
              <a:t>Lunar Lander Demo</a:t>
            </a:r>
            <a:endParaRPr lang="en-IN" sz="5400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38A1B5-C4F8-2BB2-D2F0-CB1B152853A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B53C135-CEC6-A548-8917-8F7FEB82358B}" type="slidenum">
              <a:rPr kumimoji="0" lang="en-US" sz="1600" b="1" i="0" u="none" strike="noStrike" kern="1200" cap="none" spc="0" normalizeH="0" baseline="0" noProof="0" smtClean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329840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58EBE-DF5A-AD58-26CD-FB6D26EFF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F3E1D-B09E-9DC8-1C1F-36F760913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DQN (Training)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0FF98E-997E-1B42-6637-0B0AC7D7D88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E009A78-A370-D373-6C3F-C82D6CEC91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768" y="2344874"/>
            <a:ext cx="4991797" cy="3734321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B103A1E-F45C-86CC-0907-7A9C2C5489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0253" y="2273426"/>
            <a:ext cx="4887007" cy="3877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5371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704DD-9A75-988A-7818-CF0976161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DE7BF-3D6E-82CB-1B8F-1EC883640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6951472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DQN (Evaluation)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F9D0AE-6184-F8F3-9937-846FD8FF4B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62D90A0-D9C2-62EE-ADF3-2ACF3F3A34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34165"/>
            <a:ext cx="5020376" cy="3801005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450EAB-14EF-8E60-DD5C-8B1991AED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300" y="2196059"/>
            <a:ext cx="4906060" cy="3839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7057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1E1EB-A75C-2A12-F56D-1D02C5E18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4A677-39FF-7F41-3844-96C59DDD1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DDQN (Training)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CF1F6E-2B87-D13A-D825-88823042574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78DE45B-88DE-8EC2-EC88-AE1F032821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796" y="2470467"/>
            <a:ext cx="5638800" cy="4314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546F8C7-9E10-A6C8-8DA6-238FEAD989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8405" y="2470467"/>
            <a:ext cx="5400675" cy="4314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53514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BD55C-3480-5904-697F-3DEB64DB0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94495-D8E8-EDCC-DE64-E01801020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7550990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DDQN (Evaluation)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D56A12-F53E-3284-79BF-EDA0313B132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029F57AE-7DE2-0355-5334-ED7C561D0C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" y="2287588"/>
            <a:ext cx="5553075" cy="4314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6B371D47-19FA-C304-B298-4C67D92231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0305" y="2287587"/>
            <a:ext cx="5438775" cy="4314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25040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A485D-13F7-3C7F-1847-114E97F7D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E03A0-A5D8-851A-C7C9-22F4D1419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8409548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Dueling DQN (Training)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10E36D-199E-77C9-3EE3-C6FA9E034ED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56A0D754-4FE4-9A19-1A4B-39956C6511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08848"/>
            <a:ext cx="5039428" cy="3772426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23C77E9-EA73-ED82-0BB2-DD190791CF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6950" y="2208848"/>
            <a:ext cx="4839375" cy="377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7737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2E08C-1971-7329-86E9-6C8686055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CB45E-E0FA-0E26-713F-FA0B4DF5A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7" y="1499616"/>
            <a:ext cx="9533353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Dueling DQN (Evaluation)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CD7B20-C0C7-3E5B-FB00-84E09AA9A4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D0FBC6A-0F80-535D-101F-DCDBB5B0E0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7" y="2203941"/>
            <a:ext cx="5096586" cy="3743847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A80EBBE-0FA9-FB0B-DE13-1E92CEDF69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0633" y="2203941"/>
            <a:ext cx="4877481" cy="377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505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E35EA-51D7-085C-581A-46DAD31FC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519EC-73F7-3D6A-42F0-05E60FCB2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8402568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Rainbow DQN (Training)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C67F50C-47E6-F791-D4C5-A9F281033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02469"/>
            <a:ext cx="5172797" cy="3724795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E1311D-0AA8-320D-EB03-C86977EF788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DEA3713-0762-C9F2-554D-8C95577F60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2264" y="2188179"/>
            <a:ext cx="5001323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9514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67D14-6A2D-A08B-B67E-DE59EC3E2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B9A1F-03A9-E187-7168-B7222479C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7" y="1499616"/>
            <a:ext cx="9344889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Rainbow DQN (Evaluation)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14D2AE6-3BD0-592A-0D07-ED89ECDAD1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7" y="2211337"/>
            <a:ext cx="4982270" cy="3762900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C8B635-03BD-B7A4-7E54-6D4D716CB36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3B93D0-B520-88E0-D481-578937688A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7705" y="2211337"/>
            <a:ext cx="4858428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9105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0E014-BF57-FDEA-7A3D-C21291B9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0971D-87B1-6D01-118E-BB5F8CC82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PPO (Training)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A4314E-5B15-FA3B-5EDC-9D51189D48E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38</a:t>
            </a:fld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F9100CA-05D3-45DC-3440-6C32298B45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22397"/>
            <a:ext cx="4991797" cy="3772426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7CCACAF-DF94-3D32-7D8E-BC4AF62FB1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2106" y="2090547"/>
            <a:ext cx="5048955" cy="3791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4603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363A0-DF6C-6D66-1AF1-4BB112B30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7E4D6-7E45-6381-7523-90710F245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PPO (Evaluation)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B53841-E1CD-5D28-27CC-32F46E35586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B6B6A5B-6F67-2510-306C-896D47CB15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18764"/>
            <a:ext cx="4953691" cy="3772426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2E3AEC9-5B29-731D-ACB1-1D7898BEA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9684" y="2090185"/>
            <a:ext cx="4963218" cy="382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512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D9A15-AE4A-C4FC-E098-1EF02F5F5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5648C-24F1-A679-1410-75572B57B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Table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DA655F-4956-A74A-1688-79F23812A0F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B53C135-CEC6-A548-8917-8F7FEB82358B}" type="slidenum">
              <a:rPr kumimoji="0" lang="en-US" sz="1600" b="1" i="0" u="none" strike="noStrike" kern="1200" cap="none" spc="0" normalizeH="0" baseline="0" noProof="0" smtClean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5953E7F-C303-796A-B2ED-6E2CE5E077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726048"/>
              </p:ext>
            </p:extLst>
          </p:nvPr>
        </p:nvGraphicFramePr>
        <p:xfrm>
          <a:off x="630302" y="2445411"/>
          <a:ext cx="7458158" cy="3620866"/>
        </p:xfrm>
        <a:graphic>
          <a:graphicData uri="http://schemas.openxmlformats.org/drawingml/2006/table">
            <a:tbl>
              <a:tblPr/>
              <a:tblGrid>
                <a:gridCol w="1198498">
                  <a:extLst>
                    <a:ext uri="{9D8B030D-6E8A-4147-A177-3AD203B41FA5}">
                      <a16:colId xmlns:a16="http://schemas.microsoft.com/office/drawing/2014/main" val="2057819812"/>
                    </a:ext>
                  </a:extLst>
                </a:gridCol>
                <a:gridCol w="1484768">
                  <a:extLst>
                    <a:ext uri="{9D8B030D-6E8A-4147-A177-3AD203B41FA5}">
                      <a16:colId xmlns:a16="http://schemas.microsoft.com/office/drawing/2014/main" val="77746840"/>
                    </a:ext>
                  </a:extLst>
                </a:gridCol>
                <a:gridCol w="939268">
                  <a:extLst>
                    <a:ext uri="{9D8B030D-6E8A-4147-A177-3AD203B41FA5}">
                      <a16:colId xmlns:a16="http://schemas.microsoft.com/office/drawing/2014/main" val="2646348216"/>
                    </a:ext>
                  </a:extLst>
                </a:gridCol>
                <a:gridCol w="1917812">
                  <a:extLst>
                    <a:ext uri="{9D8B030D-6E8A-4147-A177-3AD203B41FA5}">
                      <a16:colId xmlns:a16="http://schemas.microsoft.com/office/drawing/2014/main" val="1562753425"/>
                    </a:ext>
                  </a:extLst>
                </a:gridCol>
                <a:gridCol w="1917812">
                  <a:extLst>
                    <a:ext uri="{9D8B030D-6E8A-4147-A177-3AD203B41FA5}">
                      <a16:colId xmlns:a16="http://schemas.microsoft.com/office/drawing/2014/main" val="4146297063"/>
                    </a:ext>
                  </a:extLst>
                </a:gridCol>
              </a:tblGrid>
              <a:tr h="6200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Algorithm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Stability while training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Early Stopping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Training Episodes Till Convergence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Average Reward</a:t>
                      </a:r>
                    </a:p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(Evaluation)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1088406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Highly Unstable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719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-89.4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4216009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Slightly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833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-84.7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238861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Dueling 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Moderately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379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-77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7756335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Rainbow 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Moderately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399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-75.2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1323121"/>
                  </a:ext>
                </a:extLst>
              </a:tr>
              <a:tr h="6200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PPO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Highly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Yes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-92.3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7823714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B8A0CDC-BAD1-1CD7-EE79-D6B15B0808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8329765"/>
              </p:ext>
            </p:extLst>
          </p:nvPr>
        </p:nvGraphicFramePr>
        <p:xfrm>
          <a:off x="8088460" y="2445411"/>
          <a:ext cx="1917812" cy="3620866"/>
        </p:xfrm>
        <a:graphic>
          <a:graphicData uri="http://schemas.openxmlformats.org/drawingml/2006/table">
            <a:tbl>
              <a:tblPr/>
              <a:tblGrid>
                <a:gridCol w="1917812">
                  <a:extLst>
                    <a:ext uri="{9D8B030D-6E8A-4147-A177-3AD203B41FA5}">
                      <a16:colId xmlns:a16="http://schemas.microsoft.com/office/drawing/2014/main" val="2835298038"/>
                    </a:ext>
                  </a:extLst>
                </a:gridCol>
              </a:tblGrid>
              <a:tr h="62001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Epsilon Decay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4587918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Linear Decay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981588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Exponential Decay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2278279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Linear Decay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7059065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Linear Decay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2720780"/>
                  </a:ext>
                </a:extLst>
              </a:tr>
              <a:tr h="62001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 Epsilon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31533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65928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A2E56-0319-A796-9BAB-1C3658E00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5FDB9-B66E-7392-00DC-7FA3D7838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0878" y="2981642"/>
            <a:ext cx="5570244" cy="894715"/>
          </a:xfrm>
        </p:spPr>
        <p:txBody>
          <a:bodyPr/>
          <a:lstStyle/>
          <a:p>
            <a:r>
              <a:rPr lang="en-US" sz="5400" b="1" dirty="0" err="1"/>
              <a:t>Acrobot</a:t>
            </a:r>
            <a:r>
              <a:rPr lang="en-US" sz="5400" b="1" dirty="0"/>
              <a:t> Demo</a:t>
            </a:r>
            <a:endParaRPr lang="en-IN" sz="5400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AF9A5F-5BE5-79C8-9B23-A3DD818C8DB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12361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16B6F-AF95-EB09-E2B1-477ED4A38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DB04F-3D8D-BB07-A54A-DC7CACFD7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F5E961-7D49-296A-D9AD-FB39DBF99E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7" y="2185416"/>
            <a:ext cx="9744391" cy="3968249"/>
          </a:xfrm>
        </p:spPr>
        <p:txBody>
          <a:bodyPr/>
          <a:lstStyle/>
          <a:p>
            <a:r>
              <a:rPr lang="en-US" dirty="0"/>
              <a:t>Training Pong requires a lot of computational power. We overcame this challenge by using </a:t>
            </a:r>
            <a:r>
              <a:rPr lang="en-US" dirty="0" err="1"/>
              <a:t>RunPod</a:t>
            </a:r>
            <a:r>
              <a:rPr lang="en-US" dirty="0"/>
              <a:t> for training purposes</a:t>
            </a:r>
          </a:p>
          <a:p>
            <a:r>
              <a:rPr lang="en-US" dirty="0"/>
              <a:t>For all the models we had spend time to tune the hyperparameters</a:t>
            </a:r>
          </a:p>
          <a:p>
            <a:r>
              <a:rPr lang="en-US" dirty="0"/>
              <a:t>PPO didn’t converge in case of Lunar Lander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69A47-1EB5-4657-4814-90645E8799D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98240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1CAEC-B05F-C1F0-3356-1C899FA4C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Contribution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FCB9C5-D32C-D27E-AACF-640851B30F8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43</a:t>
            </a:fld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810D6F2-4A8B-B889-D715-FECEB0F701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2175816"/>
              </p:ext>
            </p:extLst>
          </p:nvPr>
        </p:nvGraphicFramePr>
        <p:xfrm>
          <a:off x="1664510" y="3063344"/>
          <a:ext cx="8862980" cy="1563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1490">
                  <a:extLst>
                    <a:ext uri="{9D8B030D-6E8A-4147-A177-3AD203B41FA5}">
                      <a16:colId xmlns:a16="http://schemas.microsoft.com/office/drawing/2014/main" val="937928138"/>
                    </a:ext>
                  </a:extLst>
                </a:gridCol>
                <a:gridCol w="4431490">
                  <a:extLst>
                    <a:ext uri="{9D8B030D-6E8A-4147-A177-3AD203B41FA5}">
                      <a16:colId xmlns:a16="http://schemas.microsoft.com/office/drawing/2014/main" val="1556088534"/>
                    </a:ext>
                  </a:extLst>
                </a:gridCol>
              </a:tblGrid>
              <a:tr h="52102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Name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Contribution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5788029"/>
                  </a:ext>
                </a:extLst>
              </a:tr>
              <a:tr h="52102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Harsh Bhargava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Atari Pong and Presentation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016519"/>
                  </a:ext>
                </a:extLst>
              </a:tr>
              <a:tr h="52102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Vivek Viswam R. V.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Lunar Lander, </a:t>
                      </a:r>
                      <a:r>
                        <a:rPr lang="en-US" dirty="0" err="1"/>
                        <a:t>Acrobot</a:t>
                      </a:r>
                      <a:r>
                        <a:rPr lang="en-US" dirty="0"/>
                        <a:t>, and Presentation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65367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09686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9F49B-F4A5-A948-4371-341B449F2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317475"/>
            <a:ext cx="10318322" cy="694839"/>
          </a:xfrm>
        </p:spPr>
        <p:txBody>
          <a:bodyPr/>
          <a:lstStyle/>
          <a:p>
            <a:r>
              <a:rPr lang="en-US" dirty="0"/>
              <a:t>GitHub Repository Link and Commit History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4ED775-5401-145F-EBE9-4E2AA273DC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7" y="2185416"/>
            <a:ext cx="10318323" cy="693971"/>
          </a:xfrm>
        </p:spPr>
        <p:txBody>
          <a:bodyPr/>
          <a:lstStyle/>
          <a:p>
            <a:r>
              <a:rPr lang="en-US" dirty="0"/>
              <a:t>Link to Repository: </a:t>
            </a:r>
            <a:r>
              <a:rPr lang="en-US" dirty="0">
                <a:hlinkClick r:id="rId3"/>
              </a:rPr>
              <a:t>https://github.com/vivek-viswam-rv/cse-546-final-project/tree/main</a:t>
            </a:r>
            <a:endParaRPr lang="en-US" dirty="0"/>
          </a:p>
          <a:p>
            <a:pPr marL="0" indent="0">
              <a:buNone/>
            </a:pP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61664C-D3A6-DAB0-8948-39178D659DD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44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2D3CE5-3A1D-8456-82CF-5EBF24A3E3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454"/>
            <a:ext cx="4339573" cy="354144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E8CA1F9-2D71-F5F9-3A30-CDD29B59A8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9573" y="3143455"/>
            <a:ext cx="4580717" cy="371454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80A96F1-C985-ED50-EE30-4F9F738A4E0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41543"/>
          <a:stretch/>
        </p:blipFill>
        <p:spPr>
          <a:xfrm>
            <a:off x="8754433" y="3115902"/>
            <a:ext cx="3254687" cy="1483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65360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9F773A-713A-C4D0-719E-B84D8ABBEF9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45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E7403E-9B85-EA33-F537-4D80B7B5C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4642"/>
            <a:ext cx="5074060" cy="452513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DB579C-0347-EBDE-1CE7-2135E43F6C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9994" y="1898208"/>
            <a:ext cx="5117404" cy="442156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745FF02-7268-FE60-6FCB-5268F899845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2840"/>
          <a:stretch/>
        </p:blipFill>
        <p:spPr>
          <a:xfrm>
            <a:off x="9333230" y="1898208"/>
            <a:ext cx="2498874" cy="1899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3789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D2221-3AA5-0021-34BF-A1D58BE04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-topic">
            <a:extLst>
              <a:ext uri="{FF2B5EF4-FFF2-40B4-BE49-F238E27FC236}">
                <a16:creationId xmlns:a16="http://schemas.microsoft.com/office/drawing/2014/main" id="{D5727B1C-CBCD-3D92-25BD-BA4067F27AC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455699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UB Brand Colors">
      <a:dk1>
        <a:srgbClr val="666666"/>
      </a:dk1>
      <a:lt1>
        <a:srgbClr val="FFFFFF"/>
      </a:lt1>
      <a:dk2>
        <a:srgbClr val="005BBB"/>
      </a:dk2>
      <a:lt2>
        <a:srgbClr val="FFFFFF"/>
      </a:lt2>
      <a:accent1>
        <a:srgbClr val="005BBB"/>
      </a:accent1>
      <a:accent2>
        <a:srgbClr val="41B6E6"/>
      </a:accent2>
      <a:accent3>
        <a:srgbClr val="E56D54"/>
      </a:accent3>
      <a:accent4>
        <a:srgbClr val="666666"/>
      </a:accent4>
      <a:accent5>
        <a:srgbClr val="007681"/>
      </a:accent5>
      <a:accent6>
        <a:srgbClr val="003E51"/>
      </a:accent6>
      <a:hlink>
        <a:srgbClr val="005BBB"/>
      </a:hlink>
      <a:folHlink>
        <a:srgbClr val="D86A4E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</TotalTime>
  <Words>612</Words>
  <Application>Microsoft Office PowerPoint</Application>
  <PresentationFormat>Widescreen</PresentationFormat>
  <Paragraphs>223</Paragraphs>
  <Slides>46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46</vt:i4>
      </vt:variant>
    </vt:vector>
  </HeadingPairs>
  <TitlesOfParts>
    <vt:vector size="54" baseType="lpstr">
      <vt:lpstr>Aptos</vt:lpstr>
      <vt:lpstr>Aptos Display</vt:lpstr>
      <vt:lpstr>Aptos Narrow</vt:lpstr>
      <vt:lpstr>Arial</vt:lpstr>
      <vt:lpstr>Georgia</vt:lpstr>
      <vt:lpstr>System Font Regular</vt:lpstr>
      <vt:lpstr>Office Theme</vt:lpstr>
      <vt:lpstr>1_Office Theme</vt:lpstr>
      <vt:lpstr>Exploring RL Algorithms</vt:lpstr>
      <vt:lpstr>Problem Statement</vt:lpstr>
      <vt:lpstr>Algorithms Implemented</vt:lpstr>
      <vt:lpstr>Environments Explored</vt:lpstr>
      <vt:lpstr>Results</vt:lpstr>
      <vt:lpstr>Pong: DQN (Training)</vt:lpstr>
      <vt:lpstr>Pong: DQN (Evaluation)</vt:lpstr>
      <vt:lpstr>Pong: DDQN (Training)</vt:lpstr>
      <vt:lpstr>Pong DDQN (Evaluation)</vt:lpstr>
      <vt:lpstr>Pong: Dueling DQN (Training)</vt:lpstr>
      <vt:lpstr>Pong Dueling DQN (Evaluation)</vt:lpstr>
      <vt:lpstr>Pong: Rainbow DQN (Training)</vt:lpstr>
      <vt:lpstr>Pong: Rainbow DQN (Evaluation)</vt:lpstr>
      <vt:lpstr>Pong: PPO (Training)</vt:lpstr>
      <vt:lpstr>Pong PPO (Evaluation)</vt:lpstr>
      <vt:lpstr>Summary Table</vt:lpstr>
      <vt:lpstr>Pong Demo</vt:lpstr>
      <vt:lpstr>Lunar Lander: DQN (Training)</vt:lpstr>
      <vt:lpstr>Lunar Lander: DQN (Evaluation)</vt:lpstr>
      <vt:lpstr>Lunar Lander: DDQN (Training)</vt:lpstr>
      <vt:lpstr>Lunar Lander: DDQN (Evaluation)</vt:lpstr>
      <vt:lpstr>Lunar Lander: Dueling DQN (Training)</vt:lpstr>
      <vt:lpstr>Lunar Lander: Dueling DQN (Evaluation)</vt:lpstr>
      <vt:lpstr>Lunar Lander: Rainbow DQN (Training)</vt:lpstr>
      <vt:lpstr>Lunar Lander: Rainbow DQN (Evaluation)</vt:lpstr>
      <vt:lpstr>Lunar Lander: PPO (Training)</vt:lpstr>
      <vt:lpstr>Lunar Lander: PPO (Evaluation)</vt:lpstr>
      <vt:lpstr>Summary Table</vt:lpstr>
      <vt:lpstr>Lunar Lander Demo</vt:lpstr>
      <vt:lpstr>Acrobot: DQN (Training)</vt:lpstr>
      <vt:lpstr>Acrobot: DQN (Evaluation)</vt:lpstr>
      <vt:lpstr>Acrobot: DDQN (Training)</vt:lpstr>
      <vt:lpstr>Acrobot: DDQN (Evaluation)</vt:lpstr>
      <vt:lpstr>Acrobot: Dueling DQN (Training)</vt:lpstr>
      <vt:lpstr>Acrobot: Dueling DQN (Evaluation)</vt:lpstr>
      <vt:lpstr>Acrobot: Rainbow DQN (Training)</vt:lpstr>
      <vt:lpstr>Acrobot: Rainbow DQN (Evaluation)</vt:lpstr>
      <vt:lpstr>Acrobot: PPO (Training)</vt:lpstr>
      <vt:lpstr>Acrobot: PPO (Evaluation)</vt:lpstr>
      <vt:lpstr>Summary Table</vt:lpstr>
      <vt:lpstr>Acrobot Demo</vt:lpstr>
      <vt:lpstr>Challenges</vt:lpstr>
      <vt:lpstr>Contribution</vt:lpstr>
      <vt:lpstr>GitHub Repository Link and Commit History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Harsh Bhargava</dc:creator>
  <cp:lastModifiedBy>Harsh Bhargava</cp:lastModifiedBy>
  <cp:revision>15</cp:revision>
  <dcterms:created xsi:type="dcterms:W3CDTF">2025-05-03T01:28:35Z</dcterms:created>
  <dcterms:modified xsi:type="dcterms:W3CDTF">2025-05-04T02:47:52Z</dcterms:modified>
</cp:coreProperties>
</file>